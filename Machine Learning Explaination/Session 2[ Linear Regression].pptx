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98" r:id="rId4"/>
    <p:sldId id="299" r:id="rId5"/>
    <p:sldId id="300" r:id="rId6"/>
    <p:sldId id="301" r:id="rId7"/>
    <p:sldId id="302" r:id="rId8"/>
    <p:sldId id="303" r:id="rId9"/>
    <p:sldId id="305" r:id="rId10"/>
    <p:sldId id="304" r:id="rId11"/>
    <p:sldId id="306" r:id="rId12"/>
    <p:sldId id="307" r:id="rId13"/>
    <p:sldId id="308" r:id="rId14"/>
    <p:sldId id="309" r:id="rId15"/>
    <p:sldId id="310" r:id="rId16"/>
    <p:sldId id="311" r:id="rId17"/>
    <p:sldId id="312" r:id="rId18"/>
    <p:sldId id="314" r:id="rId19"/>
    <p:sldId id="317" r:id="rId20"/>
    <p:sldId id="313" r:id="rId21"/>
    <p:sldId id="315" r:id="rId22"/>
    <p:sldId id="316" r:id="rId23"/>
    <p:sldId id="321" r:id="rId24"/>
    <p:sldId id="330" r:id="rId25"/>
    <p:sldId id="318" r:id="rId26"/>
    <p:sldId id="319" r:id="rId27"/>
    <p:sldId id="331" r:id="rId28"/>
    <p:sldId id="320" r:id="rId29"/>
    <p:sldId id="324" r:id="rId30"/>
    <p:sldId id="322" r:id="rId31"/>
    <p:sldId id="323" r:id="rId32"/>
    <p:sldId id="325" r:id="rId33"/>
    <p:sldId id="326" r:id="rId34"/>
    <p:sldId id="327" r:id="rId35"/>
    <p:sldId id="328" r:id="rId36"/>
    <p:sldId id="329" r:id="rId37"/>
  </p:sldIdLst>
  <p:sldSz cx="18288000" cy="10287000"/>
  <p:notesSz cx="6858000" cy="9144000"/>
  <p:embeddedFontLst>
    <p:embeddedFont>
      <p:font typeface="Droid Arabic Naskh Bold" panose="020B0604020202020204" charset="0"/>
      <p:regular r:id="rId38"/>
    </p:embeddedFont>
    <p:embeddedFont>
      <p:font typeface="Roboto Condensed Bold" panose="020B0604020202020204" charset="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86" y="34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4.png"/><Relationship Id="rId7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9.png"/><Relationship Id="rId3" Type="http://schemas.openxmlformats.org/officeDocument/2006/relationships/image" Target="../media/image4.png"/><Relationship Id="rId7" Type="http://schemas.openxmlformats.org/officeDocument/2006/relationships/image" Target="../media/image34.png"/><Relationship Id="rId12" Type="http://schemas.openxmlformats.org/officeDocument/2006/relationships/image" Target="../media/image3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7.png"/><Relationship Id="rId5" Type="http://schemas.openxmlformats.org/officeDocument/2006/relationships/image" Target="../media/image6.svg"/><Relationship Id="rId10" Type="http://schemas.openxmlformats.org/officeDocument/2006/relationships/image" Target="../media/image36.png"/><Relationship Id="rId4" Type="http://schemas.openxmlformats.org/officeDocument/2006/relationships/image" Target="../media/image5.png"/><Relationship Id="rId9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4.png"/><Relationship Id="rId7" Type="http://schemas.openxmlformats.org/officeDocument/2006/relationships/image" Target="../media/image4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6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gi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6.svg"/><Relationship Id="rId10" Type="http://schemas.openxmlformats.org/officeDocument/2006/relationships/image" Target="../media/image59.png"/><Relationship Id="rId4" Type="http://schemas.openxmlformats.org/officeDocument/2006/relationships/image" Target="../media/image5.png"/><Relationship Id="rId9" Type="http://schemas.openxmlformats.org/officeDocument/2006/relationships/image" Target="../media/image5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374031" y="-155627"/>
            <a:ext cx="10180771" cy="10598253"/>
            <a:chOff x="0" y="0"/>
            <a:chExt cx="2681355" cy="27913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1355" cy="2791309"/>
            </a:xfrm>
            <a:custGeom>
              <a:avLst/>
              <a:gdLst/>
              <a:ahLst/>
              <a:cxnLst/>
              <a:rect l="l" t="t" r="r" b="b"/>
              <a:pathLst>
                <a:path w="2681355" h="2791309">
                  <a:moveTo>
                    <a:pt x="0" y="0"/>
                  </a:moveTo>
                  <a:lnTo>
                    <a:pt x="2681355" y="0"/>
                  </a:lnTo>
                  <a:lnTo>
                    <a:pt x="2681355" y="2791309"/>
                  </a:lnTo>
                  <a:lnTo>
                    <a:pt x="0" y="2791309"/>
                  </a:lnTo>
                  <a:close/>
                </a:path>
              </a:pathLst>
            </a:custGeom>
            <a:solidFill>
              <a:srgbClr val="2C78B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681355" cy="28294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92023" y="3881074"/>
            <a:ext cx="4780651" cy="4780651"/>
          </a:xfrm>
          <a:custGeom>
            <a:avLst/>
            <a:gdLst/>
            <a:ahLst/>
            <a:cxnLst/>
            <a:rect l="l" t="t" r="r" b="b"/>
            <a:pathLst>
              <a:path w="4780651" h="4780651">
                <a:moveTo>
                  <a:pt x="0" y="0"/>
                </a:moveTo>
                <a:lnTo>
                  <a:pt x="4780651" y="0"/>
                </a:lnTo>
                <a:lnTo>
                  <a:pt x="4780651" y="4780651"/>
                </a:lnTo>
                <a:lnTo>
                  <a:pt x="0" y="4780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10800" y="270472"/>
            <a:ext cx="4354597" cy="4276006"/>
          </a:xfrm>
          <a:custGeom>
            <a:avLst/>
            <a:gdLst/>
            <a:ahLst/>
            <a:cxnLst/>
            <a:rect l="l" t="t" r="r" b="b"/>
            <a:pathLst>
              <a:path w="4354597" h="4276006">
                <a:moveTo>
                  <a:pt x="0" y="0"/>
                </a:moveTo>
                <a:lnTo>
                  <a:pt x="4354598" y="0"/>
                </a:lnTo>
                <a:lnTo>
                  <a:pt x="4354598" y="4276006"/>
                </a:lnTo>
                <a:lnTo>
                  <a:pt x="0" y="4276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3157" t="-32331" r="-73157" b="-66419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7" name="TextBox 7"/>
          <p:cNvSpPr txBox="1"/>
          <p:nvPr/>
        </p:nvSpPr>
        <p:spPr>
          <a:xfrm>
            <a:off x="5572674" y="4973600"/>
            <a:ext cx="14315526" cy="57906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59"/>
              </a:lnSpc>
            </a:pPr>
            <a:r>
              <a:rPr lang="en-US" sz="9600" dirty="0">
                <a:solidFill>
                  <a:schemeClr val="accent1"/>
                </a:solidFill>
              </a:rPr>
              <a:t>Machine Learning Algorithms :</a:t>
            </a:r>
            <a:br>
              <a:rPr lang="en-US" sz="9600" dirty="0">
                <a:solidFill>
                  <a:schemeClr val="accent1"/>
                </a:solidFill>
              </a:rPr>
            </a:br>
            <a:r>
              <a:rPr lang="en-US" sz="9600" dirty="0">
                <a:solidFill>
                  <a:schemeClr val="accent1"/>
                </a:solidFill>
              </a:rPr>
              <a:t>(</a:t>
            </a:r>
            <a:r>
              <a:rPr lang="en-US" sz="6000" dirty="0">
                <a:solidFill>
                  <a:schemeClr val="accent1"/>
                </a:solidFill>
              </a:rPr>
              <a:t>Linear Regression- </a:t>
            </a:r>
          </a:p>
          <a:p>
            <a:pPr algn="ctr">
              <a:lnSpc>
                <a:spcPts val="8859"/>
              </a:lnSpc>
            </a:pPr>
            <a:r>
              <a:rPr lang="en-US" sz="6000" dirty="0">
                <a:solidFill>
                  <a:schemeClr val="accent1"/>
                </a:solidFill>
              </a:rPr>
              <a:t>        Gradient Descent</a:t>
            </a:r>
            <a:r>
              <a:rPr lang="en-US" sz="9600" dirty="0">
                <a:solidFill>
                  <a:schemeClr val="accent1"/>
                </a:solidFill>
              </a:rPr>
              <a:t>)</a:t>
            </a:r>
          </a:p>
          <a:p>
            <a:pPr algn="ctr">
              <a:lnSpc>
                <a:spcPts val="8859"/>
              </a:lnSpc>
            </a:pPr>
            <a:endParaRPr lang="en-US" sz="6328" b="1" dirty="0">
              <a:solidFill>
                <a:schemeClr val="accent1"/>
              </a:solidFill>
              <a:latin typeface="Droid Arabic Naskh Bold"/>
              <a:ea typeface="Droid Arabic Naskh Bold"/>
              <a:cs typeface="Droid Arabic Naskh Bold"/>
              <a:sym typeface="Droid Arabic Naskh 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6DF28D-413C-D275-D113-FB603EF3E8E2}"/>
              </a:ext>
            </a:extLst>
          </p:cNvPr>
          <p:cNvSpPr txBox="1"/>
          <p:nvPr/>
        </p:nvSpPr>
        <p:spPr>
          <a:xfrm>
            <a:off x="13391245" y="9543367"/>
            <a:ext cx="472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Presented by Amira Khaled</a:t>
            </a:r>
            <a:endParaRPr lang="en-GB" sz="30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8905" y="448160"/>
            <a:ext cx="1161081" cy="1161081"/>
            <a:chOff x="0" y="0"/>
            <a:chExt cx="305799" cy="305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5799" cy="305799"/>
            </a:xfrm>
            <a:custGeom>
              <a:avLst/>
              <a:gdLst/>
              <a:ahLst/>
              <a:cxnLst/>
              <a:rect l="l" t="t" r="r" b="b"/>
              <a:pathLst>
                <a:path w="305799" h="305799">
                  <a:moveTo>
                    <a:pt x="0" y="0"/>
                  </a:moveTo>
                  <a:lnTo>
                    <a:pt x="305799" y="0"/>
                  </a:lnTo>
                  <a:lnTo>
                    <a:pt x="305799" y="305799"/>
                  </a:lnTo>
                  <a:lnTo>
                    <a:pt x="0" y="305799"/>
                  </a:lnTo>
                  <a:close/>
                </a:path>
              </a:pathLst>
            </a:custGeom>
            <a:solidFill>
              <a:srgbClr val="1589C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05799" cy="362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355859" y="108169"/>
            <a:ext cx="15430039" cy="1581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116"/>
              </a:lnSpc>
              <a:spcBef>
                <a:spcPct val="0"/>
              </a:spcBef>
            </a:pPr>
            <a:r>
              <a:rPr lang="en-US" sz="9600" b="1" dirty="0"/>
              <a:t>How machine learning work</a:t>
            </a:r>
            <a:r>
              <a:rPr lang="en-US" sz="9600" dirty="0"/>
              <a:t>:</a:t>
            </a:r>
            <a:endParaRPr lang="en-US" sz="8744" b="1" dirty="0">
              <a:solidFill>
                <a:srgbClr val="1A1B1E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56ABA9E-1228-4964-1C85-899F7CA528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9261" y="2333307"/>
            <a:ext cx="15430039" cy="605518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8905" y="448160"/>
            <a:ext cx="1161081" cy="1161081"/>
            <a:chOff x="0" y="0"/>
            <a:chExt cx="305799" cy="305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5799" cy="305799"/>
            </a:xfrm>
            <a:custGeom>
              <a:avLst/>
              <a:gdLst/>
              <a:ahLst/>
              <a:cxnLst/>
              <a:rect l="l" t="t" r="r" b="b"/>
              <a:pathLst>
                <a:path w="305799" h="305799">
                  <a:moveTo>
                    <a:pt x="0" y="0"/>
                  </a:moveTo>
                  <a:lnTo>
                    <a:pt x="305799" y="0"/>
                  </a:lnTo>
                  <a:lnTo>
                    <a:pt x="305799" y="305799"/>
                  </a:lnTo>
                  <a:lnTo>
                    <a:pt x="0" y="305799"/>
                  </a:lnTo>
                  <a:close/>
                </a:path>
              </a:pathLst>
            </a:custGeom>
            <a:solidFill>
              <a:srgbClr val="1589C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05799" cy="362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355859" y="108169"/>
            <a:ext cx="15430039" cy="1581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116"/>
              </a:lnSpc>
              <a:spcBef>
                <a:spcPct val="0"/>
              </a:spcBef>
            </a:pPr>
            <a:r>
              <a:rPr lang="en-US" sz="9600" b="1" dirty="0"/>
              <a:t>How machine learning work</a:t>
            </a:r>
            <a:r>
              <a:rPr lang="en-US" sz="9600" dirty="0"/>
              <a:t>:</a:t>
            </a:r>
            <a:endParaRPr lang="en-US" sz="8744" b="1" dirty="0">
              <a:solidFill>
                <a:srgbClr val="1A1B1E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FEDDD27-5DC3-5FEB-A7C4-E75C413723DC}"/>
              </a:ext>
            </a:extLst>
          </p:cNvPr>
          <p:cNvGrpSpPr/>
          <p:nvPr/>
        </p:nvGrpSpPr>
        <p:grpSpPr>
          <a:xfrm>
            <a:off x="1906853" y="2076389"/>
            <a:ext cx="14474293" cy="6392228"/>
            <a:chOff x="618789" y="1428880"/>
            <a:chExt cx="9414984" cy="400024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99DF821-B73F-2F06-5617-18401DEE72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8789" y="1428880"/>
              <a:ext cx="6831330" cy="4000240"/>
            </a:xfrm>
            <a:prstGeom prst="rect">
              <a:avLst/>
            </a:prstGeom>
            <a:ln w="88900" cap="sq" cmpd="thickThin">
              <a:solidFill>
                <a:srgbClr val="000000"/>
              </a:solidFill>
              <a:prstDash val="solid"/>
              <a:miter lim="800000"/>
            </a:ln>
            <a:effectLst>
              <a:innerShdw blurRad="76200">
                <a:srgbClr val="000000"/>
              </a:innerShdw>
            </a:effec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2B935AD-362B-3BE2-4851-678155E1214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99903" y="1497142"/>
              <a:ext cx="1633870" cy="3863715"/>
            </a:xfrm>
            <a:prstGeom prst="rect">
              <a:avLst/>
            </a:prstGeom>
            <a:ln w="88900" cap="sq" cmpd="thickThin">
              <a:solidFill>
                <a:srgbClr val="000000"/>
              </a:solidFill>
              <a:prstDash val="solid"/>
              <a:miter lim="800000"/>
            </a:ln>
            <a:effectLst>
              <a:innerShdw blurRad="76200">
                <a:srgbClr val="000000"/>
              </a:innerShdw>
            </a:effectLst>
          </p:spPr>
        </p:pic>
      </p:grpSp>
    </p:spTree>
    <p:extLst>
      <p:ext uri="{BB962C8B-B14F-4D97-AF65-F5344CB8AC3E}">
        <p14:creationId xmlns:p14="http://schemas.microsoft.com/office/powerpoint/2010/main" val="3383107644"/>
      </p:ext>
    </p:extLst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69B7FB06-D601-47C7-D42A-DE273092F3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815" y="1043354"/>
            <a:ext cx="9182386" cy="742526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B17AF7C-55BA-B39B-55F8-DCAC368A82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8232" y="1714500"/>
            <a:ext cx="6172200" cy="3810859"/>
          </a:xfrm>
          <a:prstGeom prst="rect">
            <a:avLst/>
          </a:prstGeom>
          <a:ln w="88900" cap="sq" cmpd="thickThin">
            <a:solidFill>
              <a:schemeClr val="tx1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6088ABD-A076-24CE-0531-CAD6E49B32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2370" y="7166376"/>
            <a:ext cx="6153779" cy="9906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5" name="Subtitle 12">
            <a:extLst>
              <a:ext uri="{FF2B5EF4-FFF2-40B4-BE49-F238E27FC236}">
                <a16:creationId xmlns:a16="http://schemas.microsoft.com/office/drawing/2014/main" id="{2BCC54C9-BA07-B677-5D89-411284B6C52C}"/>
              </a:ext>
            </a:extLst>
          </p:cNvPr>
          <p:cNvSpPr txBox="1">
            <a:spLocks/>
          </p:cNvSpPr>
          <p:nvPr/>
        </p:nvSpPr>
        <p:spPr>
          <a:xfrm>
            <a:off x="11353800" y="649018"/>
            <a:ext cx="4953000" cy="106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000" dirty="0"/>
              <a:t>Training 80%</a:t>
            </a:r>
          </a:p>
          <a:p>
            <a:endParaRPr lang="en-GB" dirty="0"/>
          </a:p>
        </p:txBody>
      </p:sp>
      <p:sp>
        <p:nvSpPr>
          <p:cNvPr id="16" name="Subtitle 12">
            <a:extLst>
              <a:ext uri="{FF2B5EF4-FFF2-40B4-BE49-F238E27FC236}">
                <a16:creationId xmlns:a16="http://schemas.microsoft.com/office/drawing/2014/main" id="{2F4932BB-BDD5-FFB6-69FE-F02C4C0756E4}"/>
              </a:ext>
            </a:extLst>
          </p:cNvPr>
          <p:cNvSpPr txBox="1">
            <a:spLocks/>
          </p:cNvSpPr>
          <p:nvPr/>
        </p:nvSpPr>
        <p:spPr>
          <a:xfrm>
            <a:off x="12462510" y="6208557"/>
            <a:ext cx="3844290" cy="78867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Testing 20%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3386810"/>
      </p:ext>
    </p:extLst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8905" y="448160"/>
            <a:ext cx="1161081" cy="1161081"/>
            <a:chOff x="0" y="0"/>
            <a:chExt cx="305799" cy="305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5799" cy="305799"/>
            </a:xfrm>
            <a:custGeom>
              <a:avLst/>
              <a:gdLst/>
              <a:ahLst/>
              <a:cxnLst/>
              <a:rect l="l" t="t" r="r" b="b"/>
              <a:pathLst>
                <a:path w="305799" h="305799">
                  <a:moveTo>
                    <a:pt x="0" y="0"/>
                  </a:moveTo>
                  <a:lnTo>
                    <a:pt x="305799" y="0"/>
                  </a:lnTo>
                  <a:lnTo>
                    <a:pt x="305799" y="305799"/>
                  </a:lnTo>
                  <a:lnTo>
                    <a:pt x="0" y="305799"/>
                  </a:lnTo>
                  <a:close/>
                </a:path>
              </a:pathLst>
            </a:custGeom>
            <a:solidFill>
              <a:srgbClr val="1589C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05799" cy="362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355859" y="108169"/>
            <a:ext cx="15430039" cy="1581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116"/>
              </a:lnSpc>
              <a:spcBef>
                <a:spcPct val="0"/>
              </a:spcBef>
            </a:pPr>
            <a:r>
              <a:rPr lang="en-US" sz="9600" b="1" dirty="0"/>
              <a:t>How machine learning work</a:t>
            </a:r>
            <a:r>
              <a:rPr lang="en-US" sz="9600" dirty="0"/>
              <a:t>:</a:t>
            </a:r>
            <a:endParaRPr lang="en-US" sz="8744" b="1" dirty="0">
              <a:solidFill>
                <a:srgbClr val="1A1B1E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DC44AB-4A2C-B51F-FDD6-D08E736786F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22399"/>
          <a:stretch/>
        </p:blipFill>
        <p:spPr>
          <a:xfrm>
            <a:off x="848905" y="1837014"/>
            <a:ext cx="9487873" cy="699647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5286EE-3BD6-91A7-42BF-EADDE351D9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2628900"/>
            <a:ext cx="6205811" cy="585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224600"/>
      </p:ext>
    </p:extLst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8905" y="448160"/>
            <a:ext cx="1161081" cy="1161081"/>
            <a:chOff x="0" y="0"/>
            <a:chExt cx="305799" cy="305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5799" cy="305799"/>
            </a:xfrm>
            <a:custGeom>
              <a:avLst/>
              <a:gdLst/>
              <a:ahLst/>
              <a:cxnLst/>
              <a:rect l="l" t="t" r="r" b="b"/>
              <a:pathLst>
                <a:path w="305799" h="305799">
                  <a:moveTo>
                    <a:pt x="0" y="0"/>
                  </a:moveTo>
                  <a:lnTo>
                    <a:pt x="305799" y="0"/>
                  </a:lnTo>
                  <a:lnTo>
                    <a:pt x="305799" y="305799"/>
                  </a:lnTo>
                  <a:lnTo>
                    <a:pt x="0" y="305799"/>
                  </a:lnTo>
                  <a:close/>
                </a:path>
              </a:pathLst>
            </a:custGeom>
            <a:solidFill>
              <a:srgbClr val="1589C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05799" cy="362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355859" y="108169"/>
            <a:ext cx="15430039" cy="1581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116"/>
              </a:lnSpc>
              <a:spcBef>
                <a:spcPct val="0"/>
              </a:spcBef>
            </a:pPr>
            <a:r>
              <a:rPr lang="en-US" sz="9600" b="1" dirty="0"/>
              <a:t>Types of ML Algorithms</a:t>
            </a:r>
            <a:r>
              <a:rPr lang="en-US" sz="9600" dirty="0"/>
              <a:t>:</a:t>
            </a:r>
            <a:endParaRPr lang="en-US" sz="8744" b="1" dirty="0">
              <a:solidFill>
                <a:srgbClr val="1A1B1E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CCB0413-7C4B-02AC-AFCE-89AF62E32CB5}"/>
              </a:ext>
            </a:extLst>
          </p:cNvPr>
          <p:cNvGrpSpPr/>
          <p:nvPr/>
        </p:nvGrpSpPr>
        <p:grpSpPr>
          <a:xfrm>
            <a:off x="1066801" y="2400300"/>
            <a:ext cx="15430038" cy="6320160"/>
            <a:chOff x="562366" y="820896"/>
            <a:chExt cx="10535939" cy="4139153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D721D26-3611-F0F7-AD1C-F2B5FFC22F65}"/>
                </a:ext>
              </a:extLst>
            </p:cNvPr>
            <p:cNvSpPr/>
            <p:nvPr/>
          </p:nvSpPr>
          <p:spPr>
            <a:xfrm>
              <a:off x="3983915" y="820896"/>
              <a:ext cx="3737610" cy="107442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0" dirty="0"/>
                <a:t>Algorithms</a:t>
              </a:r>
              <a:endParaRPr lang="en-GB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E466003-2E96-9149-2FDD-8F3CDE19EE24}"/>
                </a:ext>
              </a:extLst>
            </p:cNvPr>
            <p:cNvSpPr/>
            <p:nvPr/>
          </p:nvSpPr>
          <p:spPr>
            <a:xfrm>
              <a:off x="6844494" y="3303624"/>
              <a:ext cx="4253811" cy="107442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4000" dirty="0"/>
                <a:t>Un-Supervised Alg.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0B245D6-8F74-0921-1BA6-1713676C15B1}"/>
                </a:ext>
              </a:extLst>
            </p:cNvPr>
            <p:cNvSpPr/>
            <p:nvPr/>
          </p:nvSpPr>
          <p:spPr>
            <a:xfrm>
              <a:off x="562366" y="3429000"/>
              <a:ext cx="3925646" cy="82366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0" dirty="0"/>
                <a:t>Supervised Alg.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BA5A946-18D5-3A87-2580-8A51B91C0098}"/>
                </a:ext>
              </a:extLst>
            </p:cNvPr>
            <p:cNvCxnSpPr>
              <a:cxnSpLocks/>
              <a:stCxn id="11" idx="2"/>
              <a:endCxn id="13" idx="0"/>
            </p:cNvCxnSpPr>
            <p:nvPr/>
          </p:nvCxnSpPr>
          <p:spPr>
            <a:xfrm flipH="1">
              <a:off x="2525189" y="1895316"/>
              <a:ext cx="3327531" cy="15336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92808E8-4768-90F7-8FB1-9A7035656135}"/>
                </a:ext>
              </a:extLst>
            </p:cNvPr>
            <p:cNvCxnSpPr>
              <a:cxnSpLocks/>
              <a:stCxn id="11" idx="2"/>
              <a:endCxn id="12" idx="0"/>
            </p:cNvCxnSpPr>
            <p:nvPr/>
          </p:nvCxnSpPr>
          <p:spPr>
            <a:xfrm>
              <a:off x="5852720" y="1895316"/>
              <a:ext cx="3118680" cy="14083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Content Placeholder 2">
              <a:extLst>
                <a:ext uri="{FF2B5EF4-FFF2-40B4-BE49-F238E27FC236}">
                  <a16:creationId xmlns:a16="http://schemas.microsoft.com/office/drawing/2014/main" id="{DAB18E75-14F2-0AFE-3377-2B636DD04D40}"/>
                </a:ext>
              </a:extLst>
            </p:cNvPr>
            <p:cNvSpPr txBox="1">
              <a:spLocks/>
            </p:cNvSpPr>
            <p:nvPr/>
          </p:nvSpPr>
          <p:spPr>
            <a:xfrm>
              <a:off x="728384" y="4378044"/>
              <a:ext cx="3151094" cy="49623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/>
                <a:t>Labeled:</a:t>
              </a:r>
            </a:p>
            <a:p>
              <a:endParaRPr lang="en-GB" b="1" dirty="0"/>
            </a:p>
          </p:txBody>
        </p:sp>
        <p:sp>
          <p:nvSpPr>
            <p:cNvPr id="17" name="Content Placeholder 2">
              <a:extLst>
                <a:ext uri="{FF2B5EF4-FFF2-40B4-BE49-F238E27FC236}">
                  <a16:creationId xmlns:a16="http://schemas.microsoft.com/office/drawing/2014/main" id="{F7566A04-9F26-5E7F-0230-B53565F73474}"/>
                </a:ext>
              </a:extLst>
            </p:cNvPr>
            <p:cNvSpPr txBox="1">
              <a:spLocks/>
            </p:cNvSpPr>
            <p:nvPr/>
          </p:nvSpPr>
          <p:spPr>
            <a:xfrm>
              <a:off x="6844494" y="4463815"/>
              <a:ext cx="3151094" cy="49623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/>
                <a:t>Un-Labeled:</a:t>
              </a:r>
            </a:p>
            <a:p>
              <a:endParaRPr lang="en-GB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708500158"/>
      </p:ext>
    </p:extLst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8905" y="448160"/>
            <a:ext cx="1161081" cy="1161081"/>
            <a:chOff x="0" y="0"/>
            <a:chExt cx="305799" cy="305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5799" cy="305799"/>
            </a:xfrm>
            <a:custGeom>
              <a:avLst/>
              <a:gdLst/>
              <a:ahLst/>
              <a:cxnLst/>
              <a:rect l="l" t="t" r="r" b="b"/>
              <a:pathLst>
                <a:path w="305799" h="305799">
                  <a:moveTo>
                    <a:pt x="0" y="0"/>
                  </a:moveTo>
                  <a:lnTo>
                    <a:pt x="305799" y="0"/>
                  </a:lnTo>
                  <a:lnTo>
                    <a:pt x="305799" y="305799"/>
                  </a:lnTo>
                  <a:lnTo>
                    <a:pt x="0" y="305799"/>
                  </a:lnTo>
                  <a:close/>
                </a:path>
              </a:pathLst>
            </a:custGeom>
            <a:solidFill>
              <a:srgbClr val="1589C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05799" cy="362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355859" y="108169"/>
            <a:ext cx="15430039" cy="1581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116"/>
              </a:lnSpc>
              <a:spcBef>
                <a:spcPct val="0"/>
              </a:spcBef>
            </a:pPr>
            <a:r>
              <a:rPr lang="en-US" sz="9600" b="1" dirty="0"/>
              <a:t>Types of ML Algorithms</a:t>
            </a:r>
            <a:r>
              <a:rPr lang="en-US" sz="9600" dirty="0"/>
              <a:t>:</a:t>
            </a:r>
            <a:endParaRPr lang="en-US" sz="8744" b="1" dirty="0">
              <a:solidFill>
                <a:srgbClr val="1A1B1E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CCB0413-7C4B-02AC-AFCE-89AF62E32CB5}"/>
              </a:ext>
            </a:extLst>
          </p:cNvPr>
          <p:cNvGrpSpPr/>
          <p:nvPr/>
        </p:nvGrpSpPr>
        <p:grpSpPr>
          <a:xfrm>
            <a:off x="1066801" y="2400300"/>
            <a:ext cx="15430038" cy="6320160"/>
            <a:chOff x="562366" y="820896"/>
            <a:chExt cx="10535939" cy="4139153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D721D26-3611-F0F7-AD1C-F2B5FFC22F65}"/>
                </a:ext>
              </a:extLst>
            </p:cNvPr>
            <p:cNvSpPr/>
            <p:nvPr/>
          </p:nvSpPr>
          <p:spPr>
            <a:xfrm>
              <a:off x="3983915" y="820896"/>
              <a:ext cx="3737610" cy="107442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0" dirty="0"/>
                <a:t>Algorithms</a:t>
              </a:r>
              <a:endParaRPr lang="en-GB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E466003-2E96-9149-2FDD-8F3CDE19EE24}"/>
                </a:ext>
              </a:extLst>
            </p:cNvPr>
            <p:cNvSpPr/>
            <p:nvPr/>
          </p:nvSpPr>
          <p:spPr>
            <a:xfrm>
              <a:off x="6844494" y="3303624"/>
              <a:ext cx="4253811" cy="107442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4000" dirty="0"/>
                <a:t>Un-Supervised Alg.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0B245D6-8F74-0921-1BA6-1713676C15B1}"/>
                </a:ext>
              </a:extLst>
            </p:cNvPr>
            <p:cNvSpPr/>
            <p:nvPr/>
          </p:nvSpPr>
          <p:spPr>
            <a:xfrm>
              <a:off x="562366" y="3429000"/>
              <a:ext cx="3925646" cy="82366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0" dirty="0"/>
                <a:t>Supervised Alg.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BA5A946-18D5-3A87-2580-8A51B91C0098}"/>
                </a:ext>
              </a:extLst>
            </p:cNvPr>
            <p:cNvCxnSpPr>
              <a:cxnSpLocks/>
              <a:stCxn id="11" idx="2"/>
              <a:endCxn id="13" idx="0"/>
            </p:cNvCxnSpPr>
            <p:nvPr/>
          </p:nvCxnSpPr>
          <p:spPr>
            <a:xfrm flipH="1">
              <a:off x="2525189" y="1895316"/>
              <a:ext cx="3327531" cy="15336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92808E8-4768-90F7-8FB1-9A7035656135}"/>
                </a:ext>
              </a:extLst>
            </p:cNvPr>
            <p:cNvCxnSpPr>
              <a:cxnSpLocks/>
              <a:stCxn id="11" idx="2"/>
              <a:endCxn id="12" idx="0"/>
            </p:cNvCxnSpPr>
            <p:nvPr/>
          </p:nvCxnSpPr>
          <p:spPr>
            <a:xfrm>
              <a:off x="5852720" y="1895316"/>
              <a:ext cx="3118680" cy="14083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Content Placeholder 2">
              <a:extLst>
                <a:ext uri="{FF2B5EF4-FFF2-40B4-BE49-F238E27FC236}">
                  <a16:creationId xmlns:a16="http://schemas.microsoft.com/office/drawing/2014/main" id="{DAB18E75-14F2-0AFE-3377-2B636DD04D40}"/>
                </a:ext>
              </a:extLst>
            </p:cNvPr>
            <p:cNvSpPr txBox="1">
              <a:spLocks/>
            </p:cNvSpPr>
            <p:nvPr/>
          </p:nvSpPr>
          <p:spPr>
            <a:xfrm>
              <a:off x="728384" y="4378044"/>
              <a:ext cx="3151094" cy="49623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/>
                <a:t>Labeled:</a:t>
              </a:r>
            </a:p>
            <a:p>
              <a:endParaRPr lang="en-GB" b="1" dirty="0"/>
            </a:p>
          </p:txBody>
        </p:sp>
        <p:sp>
          <p:nvSpPr>
            <p:cNvPr id="17" name="Content Placeholder 2">
              <a:extLst>
                <a:ext uri="{FF2B5EF4-FFF2-40B4-BE49-F238E27FC236}">
                  <a16:creationId xmlns:a16="http://schemas.microsoft.com/office/drawing/2014/main" id="{F7566A04-9F26-5E7F-0230-B53565F73474}"/>
                </a:ext>
              </a:extLst>
            </p:cNvPr>
            <p:cNvSpPr txBox="1">
              <a:spLocks/>
            </p:cNvSpPr>
            <p:nvPr/>
          </p:nvSpPr>
          <p:spPr>
            <a:xfrm>
              <a:off x="6844494" y="4463815"/>
              <a:ext cx="3151094" cy="49623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/>
                <a:t>Un-Labeled:</a:t>
              </a:r>
            </a:p>
            <a:p>
              <a:endParaRPr lang="en-GB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574742307"/>
      </p:ext>
    </p:extLst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8905" y="448160"/>
            <a:ext cx="1161081" cy="1161081"/>
            <a:chOff x="0" y="0"/>
            <a:chExt cx="305799" cy="305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5799" cy="305799"/>
            </a:xfrm>
            <a:custGeom>
              <a:avLst/>
              <a:gdLst/>
              <a:ahLst/>
              <a:cxnLst/>
              <a:rect l="l" t="t" r="r" b="b"/>
              <a:pathLst>
                <a:path w="305799" h="305799">
                  <a:moveTo>
                    <a:pt x="0" y="0"/>
                  </a:moveTo>
                  <a:lnTo>
                    <a:pt x="305799" y="0"/>
                  </a:lnTo>
                  <a:lnTo>
                    <a:pt x="305799" y="305799"/>
                  </a:lnTo>
                  <a:lnTo>
                    <a:pt x="0" y="305799"/>
                  </a:lnTo>
                  <a:close/>
                </a:path>
              </a:pathLst>
            </a:custGeom>
            <a:solidFill>
              <a:srgbClr val="1589C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05799" cy="362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355859" y="108169"/>
            <a:ext cx="15430039" cy="1581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116"/>
              </a:lnSpc>
              <a:spcBef>
                <a:spcPct val="0"/>
              </a:spcBef>
            </a:pPr>
            <a:r>
              <a:rPr lang="en-US" sz="9600" b="1" dirty="0"/>
              <a:t>Types of ML Algorithms</a:t>
            </a:r>
            <a:r>
              <a:rPr lang="en-US" sz="9600" dirty="0"/>
              <a:t>:</a:t>
            </a:r>
            <a:endParaRPr lang="en-US" sz="8744" b="1" dirty="0">
              <a:solidFill>
                <a:srgbClr val="1A1B1E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F71AE0B-D72A-4E73-B357-53028B7D111C}"/>
              </a:ext>
            </a:extLst>
          </p:cNvPr>
          <p:cNvGrpSpPr/>
          <p:nvPr/>
        </p:nvGrpSpPr>
        <p:grpSpPr>
          <a:xfrm>
            <a:off x="1029657" y="1979932"/>
            <a:ext cx="16230600" cy="6479893"/>
            <a:chOff x="304800" y="889426"/>
            <a:chExt cx="11582400" cy="5805865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CB6BAE40-9459-2BE5-B890-C52423B261FE}"/>
                </a:ext>
              </a:extLst>
            </p:cNvPr>
            <p:cNvSpPr/>
            <p:nvPr/>
          </p:nvSpPr>
          <p:spPr>
            <a:xfrm>
              <a:off x="7793201" y="2690019"/>
              <a:ext cx="3147365" cy="107442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0" dirty="0"/>
                <a:t>Classification Alg.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9210ABF-10DB-56F2-5853-9600E2623DB5}"/>
                </a:ext>
              </a:extLst>
            </p:cNvPr>
            <p:cNvGrpSpPr/>
            <p:nvPr/>
          </p:nvGrpSpPr>
          <p:grpSpPr>
            <a:xfrm>
              <a:off x="304800" y="889426"/>
              <a:ext cx="11582400" cy="5805865"/>
              <a:chOff x="304800" y="889426"/>
              <a:chExt cx="11582400" cy="5805865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4B102840-96D9-D76A-60B4-85AD4854BCF2}"/>
                  </a:ext>
                </a:extLst>
              </p:cNvPr>
              <p:cNvSpPr/>
              <p:nvPr/>
            </p:nvSpPr>
            <p:spPr>
              <a:xfrm>
                <a:off x="521577" y="2564742"/>
                <a:ext cx="3462338" cy="107442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4000" dirty="0"/>
                  <a:t>Regression Alg.</a:t>
                </a: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54624DF9-9C86-0F72-BA1D-205C3EA7F107}"/>
                  </a:ext>
                </a:extLst>
              </p:cNvPr>
              <p:cNvSpPr/>
              <p:nvPr/>
            </p:nvSpPr>
            <p:spPr>
              <a:xfrm>
                <a:off x="3867555" y="889426"/>
                <a:ext cx="3925646" cy="82366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4000" dirty="0"/>
                  <a:t>Supervised Alg.</a:t>
                </a:r>
              </a:p>
            </p:txBody>
          </p: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4CF16E28-FCB1-A5A2-03D3-B22A865C76D8}"/>
                  </a:ext>
                </a:extLst>
              </p:cNvPr>
              <p:cNvCxnSpPr>
                <a:cxnSpLocks/>
                <a:stCxn id="30" idx="2"/>
                <a:endCxn id="29" idx="0"/>
              </p:cNvCxnSpPr>
              <p:nvPr/>
            </p:nvCxnSpPr>
            <p:spPr>
              <a:xfrm flipH="1">
                <a:off x="2252746" y="1713095"/>
                <a:ext cx="3577632" cy="8516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3249D8FC-BAAF-C242-504F-0F5098FD7749}"/>
                  </a:ext>
                </a:extLst>
              </p:cNvPr>
              <p:cNvCxnSpPr>
                <a:cxnSpLocks/>
                <a:stCxn id="30" idx="2"/>
                <a:endCxn id="27" idx="0"/>
              </p:cNvCxnSpPr>
              <p:nvPr/>
            </p:nvCxnSpPr>
            <p:spPr>
              <a:xfrm>
                <a:off x="5830378" y="1713095"/>
                <a:ext cx="3536506" cy="97692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8F4A26CB-D496-74B6-0482-6916970828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62165" y="4634753"/>
                <a:ext cx="5325035" cy="2060538"/>
              </a:xfrm>
              <a:prstGeom prst="rect">
                <a:avLst/>
              </a:prstGeom>
              <a:ln w="88900" cap="sq" cmpd="thickThin">
                <a:solidFill>
                  <a:srgbClr val="000000"/>
                </a:solidFill>
                <a:prstDash val="solid"/>
                <a:miter lim="800000"/>
              </a:ln>
              <a:effectLst>
                <a:innerShdw blurRad="76200">
                  <a:srgbClr val="000000"/>
                </a:innerShdw>
              </a:effectLst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A46FAFEC-C4CD-A3D6-C55B-DEB94ACF35C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/>
              <a:srcRect b="22399"/>
              <a:stretch/>
            </p:blipFill>
            <p:spPr>
              <a:xfrm>
                <a:off x="304800" y="4715435"/>
                <a:ext cx="5791200" cy="1979856"/>
              </a:xfrm>
              <a:prstGeom prst="rect">
                <a:avLst/>
              </a:prstGeom>
              <a:ln w="88900" cap="sq" cmpd="thickThin">
                <a:solidFill>
                  <a:srgbClr val="000000"/>
                </a:solidFill>
                <a:prstDash val="solid"/>
                <a:miter lim="800000"/>
              </a:ln>
              <a:effectLst>
                <a:innerShdw blurRad="76200">
                  <a:srgbClr val="000000"/>
                </a:innerShdw>
              </a:effectLst>
            </p:spPr>
          </p:pic>
          <p:sp>
            <p:nvSpPr>
              <p:cNvPr id="35" name="Content Placeholder 2">
                <a:extLst>
                  <a:ext uri="{FF2B5EF4-FFF2-40B4-BE49-F238E27FC236}">
                    <a16:creationId xmlns:a16="http://schemas.microsoft.com/office/drawing/2014/main" id="{0FBD7AD2-D824-19FD-7938-A5D961C4CF6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1577" y="3756181"/>
                <a:ext cx="3151094" cy="49623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/>
                  <a:t>continuous Values:</a:t>
                </a:r>
              </a:p>
              <a:p>
                <a:endParaRPr lang="en-GB" b="1" dirty="0"/>
              </a:p>
            </p:txBody>
          </p:sp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ECAD0910-2F06-A2BA-F635-A7C299163C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93201" y="3795184"/>
                <a:ext cx="3151094" cy="49623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/>
                  <a:t>Discrete Values:</a:t>
                </a:r>
              </a:p>
              <a:p>
                <a:endParaRPr lang="en-GB" b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87472816"/>
      </p:ext>
    </p:extLst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8905" y="448160"/>
            <a:ext cx="1161081" cy="1161081"/>
            <a:chOff x="0" y="0"/>
            <a:chExt cx="305799" cy="305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5799" cy="305799"/>
            </a:xfrm>
            <a:custGeom>
              <a:avLst/>
              <a:gdLst/>
              <a:ahLst/>
              <a:cxnLst/>
              <a:rect l="l" t="t" r="r" b="b"/>
              <a:pathLst>
                <a:path w="305799" h="305799">
                  <a:moveTo>
                    <a:pt x="0" y="0"/>
                  </a:moveTo>
                  <a:lnTo>
                    <a:pt x="305799" y="0"/>
                  </a:lnTo>
                  <a:lnTo>
                    <a:pt x="305799" y="305799"/>
                  </a:lnTo>
                  <a:lnTo>
                    <a:pt x="0" y="305799"/>
                  </a:lnTo>
                  <a:close/>
                </a:path>
              </a:pathLst>
            </a:custGeom>
            <a:solidFill>
              <a:srgbClr val="1589C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05799" cy="362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355859" y="108169"/>
            <a:ext cx="15430039" cy="1581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116"/>
              </a:lnSpc>
              <a:spcBef>
                <a:spcPct val="0"/>
              </a:spcBef>
            </a:pPr>
            <a:r>
              <a:rPr lang="en-US" sz="9600" b="1" dirty="0"/>
              <a:t>Types of ML Algorithms</a:t>
            </a:r>
            <a:r>
              <a:rPr lang="en-US" sz="9600" dirty="0"/>
              <a:t>:</a:t>
            </a:r>
            <a:endParaRPr lang="en-US" sz="8744" b="1" dirty="0">
              <a:solidFill>
                <a:srgbClr val="1A1B1E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0D3CD3F-5327-BD2D-6DB7-6EC322231902}"/>
              </a:ext>
            </a:extLst>
          </p:cNvPr>
          <p:cNvGrpSpPr/>
          <p:nvPr/>
        </p:nvGrpSpPr>
        <p:grpSpPr>
          <a:xfrm>
            <a:off x="1371601" y="2936705"/>
            <a:ext cx="15430038" cy="4927236"/>
            <a:chOff x="838200" y="224332"/>
            <a:chExt cx="10905565" cy="3250776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CAC5CBA-5F90-C3FC-FB7A-F44927DE6901}"/>
                </a:ext>
              </a:extLst>
            </p:cNvPr>
            <p:cNvSpPr/>
            <p:nvPr/>
          </p:nvSpPr>
          <p:spPr>
            <a:xfrm>
              <a:off x="3779231" y="224332"/>
              <a:ext cx="4848282" cy="107442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0" dirty="0"/>
                <a:t>Regression Alg.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B9C3684-FA60-C4AA-F740-8D238CD5018C}"/>
                </a:ext>
              </a:extLst>
            </p:cNvPr>
            <p:cNvGrpSpPr/>
            <p:nvPr/>
          </p:nvGrpSpPr>
          <p:grpSpPr>
            <a:xfrm>
              <a:off x="2473545" y="1326268"/>
              <a:ext cx="7114138" cy="976924"/>
              <a:chOff x="2518368" y="1326268"/>
              <a:chExt cx="7114138" cy="976924"/>
            </a:xfrm>
          </p:grpSpPr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0EEAE32F-672C-64F9-C300-C0CE7B03C51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18368" y="1326268"/>
                <a:ext cx="3577632" cy="8516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4975CAC6-157F-5265-322C-2806EB6249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1326268"/>
                <a:ext cx="3536506" cy="97692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BBCBDD5-1D82-02A3-24E1-B876DE5B767C}"/>
                </a:ext>
              </a:extLst>
            </p:cNvPr>
            <p:cNvSpPr/>
            <p:nvPr/>
          </p:nvSpPr>
          <p:spPr>
            <a:xfrm>
              <a:off x="838200" y="2235509"/>
              <a:ext cx="3700799" cy="107442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0" dirty="0"/>
                <a:t>Linear Regression Alg.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C76D856-2F3F-E50A-55C3-3ECE43A55763}"/>
                </a:ext>
              </a:extLst>
            </p:cNvPr>
            <p:cNvSpPr/>
            <p:nvPr/>
          </p:nvSpPr>
          <p:spPr>
            <a:xfrm>
              <a:off x="7126943" y="2400688"/>
              <a:ext cx="4616822" cy="107442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0" dirty="0"/>
                <a:t>Polynomial Regression Alg.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9098918"/>
      </p:ext>
    </p:extLst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FFCCBE6-2D21-4D57-F057-FBCA87C06AFE}"/>
              </a:ext>
            </a:extLst>
          </p:cNvPr>
          <p:cNvGrpSpPr/>
          <p:nvPr/>
        </p:nvGrpSpPr>
        <p:grpSpPr>
          <a:xfrm>
            <a:off x="1143000" y="794010"/>
            <a:ext cx="15589703" cy="7755772"/>
            <a:chOff x="277904" y="533715"/>
            <a:chExt cx="11719893" cy="5309025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AC92791-00EE-B780-83D9-15B99AC23723}"/>
                </a:ext>
              </a:extLst>
            </p:cNvPr>
            <p:cNvSpPr/>
            <p:nvPr/>
          </p:nvSpPr>
          <p:spPr>
            <a:xfrm>
              <a:off x="761999" y="533715"/>
              <a:ext cx="7709647" cy="98838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0" dirty="0"/>
                <a:t>Linear Regression Algorithm</a:t>
              </a:r>
            </a:p>
          </p:txBody>
        </p:sp>
        <p:pic>
          <p:nvPicPr>
            <p:cNvPr id="25" name="Content Placeholder 4">
              <a:extLst>
                <a:ext uri="{FF2B5EF4-FFF2-40B4-BE49-F238E27FC236}">
                  <a16:creationId xmlns:a16="http://schemas.microsoft.com/office/drawing/2014/main" id="{619E4289-9E49-91D7-68ED-35E64A2DE4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735" t="28497" r="19927" b="28366"/>
            <a:stretch/>
          </p:blipFill>
          <p:spPr>
            <a:xfrm>
              <a:off x="277904" y="2432314"/>
              <a:ext cx="5405719" cy="2720473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5A886DD5-6BC1-B03C-8084-9D15D912F7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51" t="-1" r="-1" b="-251"/>
            <a:stretch/>
          </p:blipFill>
          <p:spPr>
            <a:xfrm>
              <a:off x="5816176" y="2385572"/>
              <a:ext cx="3169667" cy="3353315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B979EFF1-89EE-C782-FEA6-FE3AACB6F3A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54108" y="2432314"/>
              <a:ext cx="3143689" cy="3410426"/>
            </a:xfrm>
            <a:prstGeom prst="rect">
              <a:avLst/>
            </a:prstGeom>
          </p:spPr>
        </p:pic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9672C71B-6A74-F259-F69D-B6E56E0A36FB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-4587" b="50106"/>
          <a:stretch/>
        </p:blipFill>
        <p:spPr>
          <a:xfrm>
            <a:off x="10260898" y="7997255"/>
            <a:ext cx="539161" cy="55252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4165FC2-25D6-BC39-34A9-9824DE52F8B7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-1324" t="47589"/>
          <a:stretch/>
        </p:blipFill>
        <p:spPr>
          <a:xfrm>
            <a:off x="14375064" y="8108484"/>
            <a:ext cx="521232" cy="57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393331"/>
      </p:ext>
    </p:extLst>
  </p:cSld>
  <p:clrMapOvr>
    <a:masterClrMapping/>
  </p:clrMapOvr>
  <p:transition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90F3029-8B33-5B44-91D1-2A1F43872DEC}"/>
              </a:ext>
            </a:extLst>
          </p:cNvPr>
          <p:cNvGrpSpPr/>
          <p:nvPr/>
        </p:nvGrpSpPr>
        <p:grpSpPr>
          <a:xfrm>
            <a:off x="2743200" y="3448522"/>
            <a:ext cx="12420600" cy="5271937"/>
            <a:chOff x="2281517" y="2343018"/>
            <a:chExt cx="7203141" cy="373519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6EA48E2-AFA3-43B1-9BD1-469F19353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1517" y="2343018"/>
              <a:ext cx="7203141" cy="3735194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D365861-8752-3A1B-0E77-F192A026B22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953436" y="2951489"/>
              <a:ext cx="2776516" cy="47751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5DB1710-0BFD-93A4-C928-0E9C9CBD6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85084" y="3861079"/>
              <a:ext cx="1719112" cy="42675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D848AD9-90A8-BEE8-DA42-C58F80C48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0215795">
              <a:off x="4127902" y="5051299"/>
              <a:ext cx="213468" cy="282701"/>
            </a:xfrm>
            <a:prstGeom prst="rect">
              <a:avLst/>
            </a:prstGeom>
          </p:spPr>
        </p:pic>
      </p:grp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48743E0-04FE-E393-5147-8C8490F874F0}"/>
              </a:ext>
            </a:extLst>
          </p:cNvPr>
          <p:cNvSpPr txBox="1">
            <a:spLocks/>
          </p:cNvSpPr>
          <p:nvPr/>
        </p:nvSpPr>
        <p:spPr>
          <a:xfrm>
            <a:off x="2050678" y="2628900"/>
            <a:ext cx="15018121" cy="64008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Equation:</a:t>
            </a:r>
          </a:p>
          <a:p>
            <a:endParaRPr lang="en-GB"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F1B695A-07BF-6476-9693-3B6FD1275F7C}"/>
              </a:ext>
            </a:extLst>
          </p:cNvPr>
          <p:cNvGrpSpPr/>
          <p:nvPr/>
        </p:nvGrpSpPr>
        <p:grpSpPr>
          <a:xfrm>
            <a:off x="611230" y="688416"/>
            <a:ext cx="14247770" cy="1631243"/>
            <a:chOff x="761999" y="533715"/>
            <a:chExt cx="11098306" cy="988381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3E41FCE-1887-F516-CA2D-A8D6E82C3CE0}"/>
                </a:ext>
              </a:extLst>
            </p:cNvPr>
            <p:cNvSpPr/>
            <p:nvPr/>
          </p:nvSpPr>
          <p:spPr>
            <a:xfrm>
              <a:off x="761999" y="533715"/>
              <a:ext cx="7709647" cy="98838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0" dirty="0"/>
                <a:t>Linear Regression Algorithm</a:t>
              </a:r>
            </a:p>
          </p:txBody>
        </p:sp>
        <p:sp>
          <p:nvSpPr>
            <p:cNvPr id="16" name="Content Placeholder 2">
              <a:extLst>
                <a:ext uri="{FF2B5EF4-FFF2-40B4-BE49-F238E27FC236}">
                  <a16:creationId xmlns:a16="http://schemas.microsoft.com/office/drawing/2014/main" id="{AE7B525B-3A54-79F3-AB9C-3F6E5FCFEF6C}"/>
                </a:ext>
              </a:extLst>
            </p:cNvPr>
            <p:cNvSpPr txBox="1">
              <a:spLocks/>
            </p:cNvSpPr>
            <p:nvPr/>
          </p:nvSpPr>
          <p:spPr>
            <a:xfrm>
              <a:off x="8904196" y="779788"/>
              <a:ext cx="2956109" cy="49623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/>
                <a:t>(With one variables)</a:t>
              </a:r>
            </a:p>
            <a:p>
              <a:endParaRPr lang="en-GB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779793723"/>
      </p:ext>
    </p:extLst>
  </p:cSld>
  <p:clrMapOvr>
    <a:masterClrMapping/>
  </p:clrMapOvr>
  <p:transition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E660232-DBF0-E647-16AF-F03E53DEFC43}"/>
              </a:ext>
            </a:extLst>
          </p:cNvPr>
          <p:cNvGrpSpPr/>
          <p:nvPr/>
        </p:nvGrpSpPr>
        <p:grpSpPr>
          <a:xfrm>
            <a:off x="0" y="338460"/>
            <a:ext cx="17676770" cy="8382000"/>
            <a:chOff x="0" y="533715"/>
            <a:chExt cx="12228978" cy="579057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3A8AB1B-DF42-2F53-2EC6-E186542BA102}"/>
                </a:ext>
              </a:extLst>
            </p:cNvPr>
            <p:cNvSpPr/>
            <p:nvPr/>
          </p:nvSpPr>
          <p:spPr>
            <a:xfrm>
              <a:off x="761999" y="533715"/>
              <a:ext cx="7709647" cy="98838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0" dirty="0"/>
                <a:t>Linear Regression Algorithm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F5AEB1F-99E1-0173-03F4-C689B94511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972946"/>
              <a:ext cx="8659650" cy="4351339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0BFACCB-DDA6-101C-E641-A190084CD0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53550" r="2231"/>
            <a:stretch/>
          </p:blipFill>
          <p:spPr>
            <a:xfrm>
              <a:off x="10087538" y="3116876"/>
              <a:ext cx="2030505" cy="1774747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2A3D82D-142B-AFCE-216F-772349FB1C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1376" r="54962"/>
            <a:stretch/>
          </p:blipFill>
          <p:spPr>
            <a:xfrm>
              <a:off x="8094011" y="2979566"/>
              <a:ext cx="2030505" cy="1797404"/>
            </a:xfrm>
            <a:prstGeom prst="rect">
              <a:avLst/>
            </a:prstGeom>
          </p:spPr>
        </p:pic>
        <p:sp>
          <p:nvSpPr>
            <p:cNvPr id="16" name="Content Placeholder 2">
              <a:extLst>
                <a:ext uri="{FF2B5EF4-FFF2-40B4-BE49-F238E27FC236}">
                  <a16:creationId xmlns:a16="http://schemas.microsoft.com/office/drawing/2014/main" id="{BC259C3B-36AD-F74C-4067-AB7168336F4E}"/>
                </a:ext>
              </a:extLst>
            </p:cNvPr>
            <p:cNvSpPr txBox="1">
              <a:spLocks/>
            </p:cNvSpPr>
            <p:nvPr/>
          </p:nvSpPr>
          <p:spPr>
            <a:xfrm>
              <a:off x="10124516" y="2447719"/>
              <a:ext cx="2104462" cy="49623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/>
                <a:t>-</a:t>
              </a:r>
              <a:r>
                <a:rPr lang="en-US" b="1" dirty="0" err="1"/>
                <a:t>ve</a:t>
              </a:r>
              <a:r>
                <a:rPr lang="en-US" b="1" dirty="0"/>
                <a:t> Correlation</a:t>
              </a:r>
            </a:p>
            <a:p>
              <a:endParaRPr lang="en-GB" b="1" dirty="0"/>
            </a:p>
          </p:txBody>
        </p:sp>
        <p:sp>
          <p:nvSpPr>
            <p:cNvPr id="17" name="Content Placeholder 2">
              <a:extLst>
                <a:ext uri="{FF2B5EF4-FFF2-40B4-BE49-F238E27FC236}">
                  <a16:creationId xmlns:a16="http://schemas.microsoft.com/office/drawing/2014/main" id="{F6F2764F-5FE6-601E-D6AB-B08668A8CD80}"/>
                </a:ext>
              </a:extLst>
            </p:cNvPr>
            <p:cNvSpPr txBox="1">
              <a:spLocks/>
            </p:cNvSpPr>
            <p:nvPr/>
          </p:nvSpPr>
          <p:spPr>
            <a:xfrm>
              <a:off x="7961779" y="2476386"/>
              <a:ext cx="2420471" cy="29464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/>
                <a:t>+</a:t>
              </a:r>
              <a:r>
                <a:rPr lang="en-US" b="1" dirty="0" err="1"/>
                <a:t>ve</a:t>
              </a:r>
              <a:r>
                <a:rPr lang="en-US" b="1" dirty="0"/>
                <a:t> Correlation</a:t>
              </a:r>
            </a:p>
            <a:p>
              <a:endParaRPr lang="en-GB" b="1" dirty="0"/>
            </a:p>
          </p:txBody>
        </p:sp>
        <p:sp>
          <p:nvSpPr>
            <p:cNvPr id="18" name="Content Placeholder 2">
              <a:extLst>
                <a:ext uri="{FF2B5EF4-FFF2-40B4-BE49-F238E27FC236}">
                  <a16:creationId xmlns:a16="http://schemas.microsoft.com/office/drawing/2014/main" id="{C6084751-591D-4323-C721-4ABDF8E99BC1}"/>
                </a:ext>
              </a:extLst>
            </p:cNvPr>
            <p:cNvSpPr txBox="1">
              <a:spLocks/>
            </p:cNvSpPr>
            <p:nvPr/>
          </p:nvSpPr>
          <p:spPr>
            <a:xfrm>
              <a:off x="8904196" y="779788"/>
              <a:ext cx="2956109" cy="49623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/>
                <a:t>(With multiple variables)</a:t>
              </a:r>
            </a:p>
            <a:p>
              <a:endParaRPr lang="en-GB" b="1" dirty="0"/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D186DD3-92E2-38CF-0C2A-FC66E55207A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35260" y="2627086"/>
              <a:ext cx="7054111" cy="745082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3228D78-F993-2B68-CFFB-F5B003346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088127" y="2074655"/>
              <a:ext cx="3677016" cy="6963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47769316"/>
      </p:ext>
    </p:extLst>
  </p:cSld>
  <p:clrMapOvr>
    <a:masterClrMapping/>
  </p:clrMapOvr>
  <p:transition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A4A780E-FE3F-34CB-0EB2-CBC285C961D1}"/>
              </a:ext>
            </a:extLst>
          </p:cNvPr>
          <p:cNvGrpSpPr/>
          <p:nvPr/>
        </p:nvGrpSpPr>
        <p:grpSpPr>
          <a:xfrm>
            <a:off x="152400" y="1104900"/>
            <a:ext cx="17449800" cy="7162800"/>
            <a:chOff x="-152399" y="0"/>
            <a:chExt cx="12075458" cy="685800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A7B1A83-CEFC-1F7E-E2C6-D825A7BE23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152399" y="0"/>
              <a:ext cx="12075458" cy="685800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B271EB7-B1FB-BD85-09DA-6E437DBD0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54239" y="5790407"/>
              <a:ext cx="2528113" cy="68481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E9575A-5E20-7796-8D27-D1164AB2E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972912" y="5790406"/>
              <a:ext cx="4121143" cy="6848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23124495"/>
      </p:ext>
    </p:extLst>
  </p:cSld>
  <p:clrMapOvr>
    <a:masterClrMapping/>
  </p:clrMapOvr>
  <p:transition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9" name="Content Placeholder 7">
            <a:extLst>
              <a:ext uri="{FF2B5EF4-FFF2-40B4-BE49-F238E27FC236}">
                <a16:creationId xmlns:a16="http://schemas.microsoft.com/office/drawing/2014/main" id="{D5B494BB-C427-B900-7832-A74286571FF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91"/>
          <a:stretch/>
        </p:blipFill>
        <p:spPr>
          <a:xfrm>
            <a:off x="107577" y="27098"/>
            <a:ext cx="18180423" cy="869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369291"/>
      </p:ext>
    </p:extLst>
  </p:cSld>
  <p:clrMapOvr>
    <a:masterClrMapping/>
  </p:clrMapOvr>
  <p:transition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E55E0-32D8-D812-025D-949CD5A9B793}"/>
              </a:ext>
            </a:extLst>
          </p:cNvPr>
          <p:cNvGrpSpPr/>
          <p:nvPr/>
        </p:nvGrpSpPr>
        <p:grpSpPr>
          <a:xfrm>
            <a:off x="89647" y="165509"/>
            <a:ext cx="17696251" cy="8554951"/>
            <a:chOff x="89647" y="165509"/>
            <a:chExt cx="12030635" cy="648630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65BA441-2A1B-9D6A-2D4D-1854E71D2E8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8729" y="712607"/>
              <a:ext cx="5201553" cy="2592224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C47928C-080E-1715-8005-674DC28AF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647" y="3493202"/>
              <a:ext cx="6087157" cy="3158612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A81B5C1A-9A25-45CA-8512-62641373E5A6}"/>
                </a:ext>
              </a:extLst>
            </p:cNvPr>
            <p:cNvSpPr txBox="1">
              <a:spLocks/>
            </p:cNvSpPr>
            <p:nvPr/>
          </p:nvSpPr>
          <p:spPr>
            <a:xfrm>
              <a:off x="6900800" y="165509"/>
              <a:ext cx="3151094" cy="49623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/>
                <a:t>Intercept changed:</a:t>
              </a:r>
            </a:p>
            <a:p>
              <a:endParaRPr lang="en-GB" b="1" dirty="0"/>
            </a:p>
          </p:txBody>
        </p:sp>
        <p:sp>
          <p:nvSpPr>
            <p:cNvPr id="12" name="Content Placeholder 2">
              <a:extLst>
                <a:ext uri="{FF2B5EF4-FFF2-40B4-BE49-F238E27FC236}">
                  <a16:creationId xmlns:a16="http://schemas.microsoft.com/office/drawing/2014/main" id="{601B15E0-46FA-C6B6-3B97-317AE9014328}"/>
                </a:ext>
              </a:extLst>
            </p:cNvPr>
            <p:cNvSpPr txBox="1">
              <a:spLocks/>
            </p:cNvSpPr>
            <p:nvPr/>
          </p:nvSpPr>
          <p:spPr>
            <a:xfrm>
              <a:off x="6918729" y="3406559"/>
              <a:ext cx="3151094" cy="49623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/>
                <a:t>Slope changed:</a:t>
              </a:r>
            </a:p>
            <a:p>
              <a:endParaRPr lang="en-GB" b="1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8ACC076-70B9-EB19-2464-55BDB38C7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64118" y="1273253"/>
              <a:ext cx="4474272" cy="954843"/>
            </a:xfrm>
            <a:prstGeom prst="rect">
              <a:avLst/>
            </a:prstGeom>
          </p:spPr>
        </p:pic>
      </p:grpSp>
      <p:pic>
        <p:nvPicPr>
          <p:cNvPr id="14" name="Content Placeholder 4">
            <a:extLst>
              <a:ext uri="{FF2B5EF4-FFF2-40B4-BE49-F238E27FC236}">
                <a16:creationId xmlns:a16="http://schemas.microsoft.com/office/drawing/2014/main" id="{1F7569D8-D434-5EC6-3C45-E5400E663DB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393" y="5152292"/>
            <a:ext cx="7811583" cy="372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301205"/>
      </p:ext>
    </p:extLst>
  </p:cSld>
  <p:clrMapOvr>
    <a:masterClrMapping/>
  </p:clrMapOvr>
  <p:transition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2063C30-1075-1A92-75C8-05293F70EC25}"/>
              </a:ext>
            </a:extLst>
          </p:cNvPr>
          <p:cNvGrpSpPr/>
          <p:nvPr/>
        </p:nvGrpSpPr>
        <p:grpSpPr>
          <a:xfrm>
            <a:off x="457200" y="251844"/>
            <a:ext cx="17328698" cy="8468616"/>
            <a:chOff x="57871" y="346654"/>
            <a:chExt cx="11999658" cy="639480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6009FD3-1FC3-D757-2BD7-2BB8A25934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71" y="1825625"/>
              <a:ext cx="11999658" cy="4915834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341277-95FB-AA00-85CA-B8C2F8A38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1547" y="346654"/>
              <a:ext cx="4474272" cy="10876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74136917"/>
      </p:ext>
    </p:extLst>
  </p:cSld>
  <p:clrMapOvr>
    <a:masterClrMapping/>
  </p:clrMapOvr>
  <p:transition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341277-95FB-AA00-85CA-B8C2F8A385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471" y="251844"/>
            <a:ext cx="6461293" cy="1440436"/>
          </a:xfrm>
          <a:prstGeom prst="rect">
            <a:avLst/>
          </a:prstGeom>
        </p:spPr>
      </p:pic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D3C9ACD8-5EC5-1341-BBC7-2EADB969BA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62" y="1692281"/>
            <a:ext cx="17596338" cy="702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38165"/>
      </p:ext>
    </p:extLst>
  </p:cSld>
  <p:clrMapOvr>
    <a:masterClrMapping/>
  </p:clrMapOvr>
  <p:transition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341277-95FB-AA00-85CA-B8C2F8A385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471" y="251844"/>
            <a:ext cx="6461293" cy="14404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8487CF5-319A-93EE-CEC5-29BA162797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692281"/>
            <a:ext cx="17633497" cy="702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054342"/>
      </p:ext>
    </p:extLst>
  </p:cSld>
  <p:clrMapOvr>
    <a:masterClrMapping/>
  </p:clrMapOvr>
  <p:transition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56D6B21-47D2-446B-76C2-6CDF1188CD86}"/>
              </a:ext>
            </a:extLst>
          </p:cNvPr>
          <p:cNvGrpSpPr/>
          <p:nvPr/>
        </p:nvGrpSpPr>
        <p:grpSpPr>
          <a:xfrm>
            <a:off x="381000" y="1028700"/>
            <a:ext cx="17404898" cy="7691760"/>
            <a:chOff x="207802" y="762942"/>
            <a:chExt cx="11612902" cy="519953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0626413-9391-96BC-00AA-106250F98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04951" y="762942"/>
              <a:ext cx="5015753" cy="4953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2C78E9C-6058-A4E4-158E-925F33581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07802" y="762942"/>
              <a:ext cx="5349579" cy="519953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7A10139-7471-7111-0F14-EC08198BC9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-1324" t="47589"/>
            <a:stretch/>
          </p:blipFill>
          <p:spPr>
            <a:xfrm>
              <a:off x="9027459" y="5136776"/>
              <a:ext cx="521232" cy="57916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036F239-A414-0D2C-30F1-E523009942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r="-4587" b="50106"/>
            <a:stretch/>
          </p:blipFill>
          <p:spPr>
            <a:xfrm>
              <a:off x="2613010" y="5286680"/>
              <a:ext cx="539161" cy="5525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9234287"/>
      </p:ext>
    </p:extLst>
  </p:cSld>
  <p:clrMapOvr>
    <a:masterClrMapping/>
  </p:clrMapOvr>
  <p:transition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08D3993-1F8F-9775-4F88-B0460B78E00F}"/>
              </a:ext>
            </a:extLst>
          </p:cNvPr>
          <p:cNvGrpSpPr/>
          <p:nvPr/>
        </p:nvGrpSpPr>
        <p:grpSpPr>
          <a:xfrm>
            <a:off x="228600" y="342900"/>
            <a:ext cx="17068800" cy="9296400"/>
            <a:chOff x="0" y="0"/>
            <a:chExt cx="11588833" cy="6857999"/>
          </a:xfrm>
        </p:grpSpPr>
        <p:pic>
          <p:nvPicPr>
            <p:cNvPr id="3" name="Content Placeholder 4">
              <a:extLst>
                <a:ext uri="{FF2B5EF4-FFF2-40B4-BE49-F238E27FC236}">
                  <a16:creationId xmlns:a16="http://schemas.microsoft.com/office/drawing/2014/main" id="{076F876D-37E8-B5A4-5986-99649112A4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810"/>
            <a:stretch/>
          </p:blipFill>
          <p:spPr>
            <a:xfrm>
              <a:off x="0" y="0"/>
              <a:ext cx="9484659" cy="6857999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EE25E39-0CFB-3AEB-D97A-9D871A8BA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41415" y="288458"/>
              <a:ext cx="3838109" cy="188230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41DD3B7-6B73-BACE-D1F0-F1C03B68F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367869" y="1925316"/>
              <a:ext cx="3630705" cy="1806097"/>
            </a:xfrm>
            <a:prstGeom prst="rect">
              <a:avLst/>
            </a:prstGeom>
          </p:spPr>
        </p:pic>
        <p:sp>
          <p:nvSpPr>
            <p:cNvPr id="12" name="Arrow: U-Turn 11">
              <a:extLst>
                <a:ext uri="{FF2B5EF4-FFF2-40B4-BE49-F238E27FC236}">
                  <a16:creationId xmlns:a16="http://schemas.microsoft.com/office/drawing/2014/main" id="{34BD75E8-F785-9E40-9415-A78CD43F0182}"/>
                </a:ext>
              </a:extLst>
            </p:cNvPr>
            <p:cNvSpPr/>
            <p:nvPr/>
          </p:nvSpPr>
          <p:spPr>
            <a:xfrm rot="5400000">
              <a:off x="10368898" y="1786153"/>
              <a:ext cx="1712259" cy="727611"/>
            </a:xfrm>
            <a:prstGeom prst="uturnArrow">
              <a:avLst>
                <a:gd name="adj1" fmla="val 25000"/>
                <a:gd name="adj2" fmla="val 25000"/>
                <a:gd name="adj3" fmla="val 31952"/>
                <a:gd name="adj4" fmla="val 43750"/>
                <a:gd name="adj5" fmla="val 75000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C089B7D-7980-B0C7-ADA1-CC9138259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754310" y="955010"/>
              <a:ext cx="3387105" cy="722833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9B913B2-22E4-62CA-EE54-4A877A37D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23742" y="4315276"/>
              <a:ext cx="5034849" cy="127792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E67E1CB-1AEF-DFCC-DA2C-511F93D463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-3420" t="-1677" r="-1" b="1"/>
            <a:stretch/>
          </p:blipFill>
          <p:spPr>
            <a:xfrm>
              <a:off x="1462984" y="5663383"/>
              <a:ext cx="5192443" cy="87886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E5FBFDA-13A8-6F4F-04D6-14782927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037951" y="2773463"/>
              <a:ext cx="1716359" cy="65553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605CEFB-D48C-68AE-B24F-FECD6298A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259445" y="1073818"/>
              <a:ext cx="1038069" cy="6040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65964702"/>
      </p:ext>
    </p:extLst>
  </p:cSld>
  <p:clrMapOvr>
    <a:masterClrMapping/>
  </p:clrMapOvr>
  <p:transition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F0A75BB-3266-B6E3-22C2-CE740477D2F1}"/>
              </a:ext>
            </a:extLst>
          </p:cNvPr>
          <p:cNvGrpSpPr/>
          <p:nvPr/>
        </p:nvGrpSpPr>
        <p:grpSpPr>
          <a:xfrm>
            <a:off x="9568272" y="262260"/>
            <a:ext cx="8108498" cy="8458200"/>
            <a:chOff x="6093088" y="411326"/>
            <a:chExt cx="5498277" cy="6255721"/>
          </a:xfrm>
        </p:grpSpPr>
        <p:pic>
          <p:nvPicPr>
            <p:cNvPr id="3" name="Content Placeholder 4">
              <a:extLst>
                <a:ext uri="{FF2B5EF4-FFF2-40B4-BE49-F238E27FC236}">
                  <a16:creationId xmlns:a16="http://schemas.microsoft.com/office/drawing/2014/main" id="{240C5A1F-671B-7DDD-6F29-4C0A452524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55" t="42308" r="18507" b="20142"/>
            <a:stretch/>
          </p:blipFill>
          <p:spPr>
            <a:xfrm>
              <a:off x="6093088" y="659443"/>
              <a:ext cx="4975413" cy="1253445"/>
            </a:xfrm>
            <a:prstGeom prst="rect">
              <a:avLst/>
            </a:prstGeom>
          </p:spPr>
        </p:pic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2EB24B5B-72D9-9D6C-D030-475ECACFEEC6}"/>
                </a:ext>
              </a:extLst>
            </p:cNvPr>
            <p:cNvSpPr txBox="1">
              <a:spLocks/>
            </p:cNvSpPr>
            <p:nvPr/>
          </p:nvSpPr>
          <p:spPr>
            <a:xfrm>
              <a:off x="6096000" y="411326"/>
              <a:ext cx="3151094" cy="49623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/>
                <a:t>Least Square Error(LSE):</a:t>
              </a:r>
            </a:p>
            <a:p>
              <a:endParaRPr lang="en-GB" b="1" dirty="0"/>
            </a:p>
          </p:txBody>
        </p:sp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0D806FAC-9979-3B74-C871-789771A35BF6}"/>
                </a:ext>
              </a:extLst>
            </p:cNvPr>
            <p:cNvSpPr txBox="1">
              <a:spLocks/>
            </p:cNvSpPr>
            <p:nvPr/>
          </p:nvSpPr>
          <p:spPr>
            <a:xfrm>
              <a:off x="6093088" y="2214905"/>
              <a:ext cx="3151094" cy="49623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/>
                <a:t>Mean Square Error(MSE):</a:t>
              </a:r>
            </a:p>
            <a:p>
              <a:endParaRPr lang="en-GB" b="1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B5C8650-7438-E308-4A98-F715FFFA4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093088" y="2615230"/>
              <a:ext cx="5498277" cy="17416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9AAC928-4254-6709-2605-17C789C00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01536" y="4877512"/>
              <a:ext cx="5412039" cy="1789535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4A2C6954-75B0-1469-FE4B-7D971B8CAA92}"/>
                </a:ext>
              </a:extLst>
            </p:cNvPr>
            <p:cNvSpPr txBox="1">
              <a:spLocks/>
            </p:cNvSpPr>
            <p:nvPr/>
          </p:nvSpPr>
          <p:spPr>
            <a:xfrm>
              <a:off x="6227559" y="4509056"/>
              <a:ext cx="3151094" cy="49623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/>
                <a:t>Cost Function J(seta):</a:t>
              </a:r>
            </a:p>
            <a:p>
              <a:endParaRPr lang="en-GB" b="1" dirty="0"/>
            </a:p>
          </p:txBody>
        </p:sp>
      </p:grpSp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C0626F7A-54FA-59B8-6126-95944350D0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570" y="1445108"/>
            <a:ext cx="7331760" cy="6199809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367CD1C-E42F-4DA2-2288-18210BA1BA30}"/>
              </a:ext>
            </a:extLst>
          </p:cNvPr>
          <p:cNvSpPr txBox="1">
            <a:spLocks/>
          </p:cNvSpPr>
          <p:nvPr/>
        </p:nvSpPr>
        <p:spPr>
          <a:xfrm>
            <a:off x="646398" y="770978"/>
            <a:ext cx="4230401" cy="887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Loss function:</a:t>
            </a:r>
          </a:p>
          <a:p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964930879"/>
      </p:ext>
    </p:extLst>
  </p:cSld>
  <p:clrMapOvr>
    <a:masterClrMapping/>
  </p:clrMapOvr>
  <p:transition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3A0EB1-64E2-8D5D-36C1-A02AF6FC40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230" y="383510"/>
            <a:ext cx="17301565" cy="833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472806"/>
      </p:ext>
    </p:extLst>
  </p:cSld>
  <p:clrMapOvr>
    <a:masterClrMapping/>
  </p:clrMapOvr>
  <p:transition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7B0528-F9F1-0490-E165-D9DAF299E2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419100"/>
            <a:ext cx="17907000" cy="829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269073"/>
      </p:ext>
    </p:extLst>
  </p:cSld>
  <p:clrMapOvr>
    <a:masterClrMapping/>
  </p:clrMapOvr>
  <p:transition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CEE320-0082-044C-62C0-88DD204236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66700"/>
            <a:ext cx="16687800" cy="8305800"/>
          </a:xfrm>
          <a:prstGeom prst="rect">
            <a:avLst/>
          </a:prstGeom>
        </p:spPr>
      </p:pic>
      <p:sp>
        <p:nvSpPr>
          <p:cNvPr id="4" name="Freeform 5">
            <a:extLst>
              <a:ext uri="{FF2B5EF4-FFF2-40B4-BE49-F238E27FC236}">
                <a16:creationId xmlns:a16="http://schemas.microsoft.com/office/drawing/2014/main" id="{B7F858ED-2871-AF7E-AEA7-032B6AD395A3}"/>
              </a:ext>
            </a:extLst>
          </p:cNvPr>
          <p:cNvSpPr/>
          <p:nvPr/>
        </p:nvSpPr>
        <p:spPr>
          <a:xfrm>
            <a:off x="152400" y="8216571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3F180F41-E503-CB96-A02E-D4D7949F2BF3}"/>
              </a:ext>
            </a:extLst>
          </p:cNvPr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7632" t="-26947" r="-97632" b="-60467"/>
            </a:stretch>
          </a:blipFill>
        </p:spPr>
      </p:sp>
    </p:spTree>
    <p:extLst>
      <p:ext uri="{BB962C8B-B14F-4D97-AF65-F5344CB8AC3E}">
        <p14:creationId xmlns:p14="http://schemas.microsoft.com/office/powerpoint/2010/main" val="336527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6683F3-A8DC-BF22-566E-98C4095467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127348"/>
            <a:ext cx="18059400" cy="8631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490243"/>
      </p:ext>
    </p:extLst>
  </p:cSld>
  <p:clrMapOvr>
    <a:masterClrMapping/>
  </p:clrMapOvr>
  <p:transition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2" name="Content Placeholder 5">
            <a:extLst>
              <a:ext uri="{FF2B5EF4-FFF2-40B4-BE49-F238E27FC236}">
                <a16:creationId xmlns:a16="http://schemas.microsoft.com/office/drawing/2014/main" id="{17B60F6B-9B72-1629-A6BB-8475BE3A8D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8288000" cy="1028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185475"/>
      </p:ext>
    </p:extLst>
  </p:cSld>
  <p:clrMapOvr>
    <a:masterClrMapping/>
  </p:clrMapOvr>
  <p:transition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51B1FC-D030-AF49-DFC8-087027906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902"/>
            <a:ext cx="18288000" cy="1018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1127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98F32D-45BE-D0B3-0314-2090F1DDC3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8135600" cy="870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572079"/>
      </p:ext>
    </p:extLst>
  </p:cSld>
  <p:clrMapOvr>
    <a:masterClrMapping/>
  </p:clrMapOvr>
  <p:transition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CAD83430-289A-34BF-620A-59C7400B6B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8516600" cy="1030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6813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BB69B637-1B7C-8A41-E7AA-9062215DDE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"/>
            <a:ext cx="18288000" cy="872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076944"/>
      </p:ext>
    </p:extLst>
  </p:cSld>
  <p:clrMapOvr>
    <a:masterClrMapping/>
  </p:clrMapOvr>
  <p:transition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204CB1DD-FB43-D7D3-3B3E-80EBC07989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8288000" cy="872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085865"/>
      </p:ext>
    </p:extLst>
  </p:cSld>
  <p:clrMapOvr>
    <a:masterClrMapping/>
  </p:clrMapOvr>
  <p:transition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ADA618-FBD4-CD98-D658-311EC861B6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615" y="251844"/>
            <a:ext cx="17676770" cy="846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700720"/>
      </p:ext>
    </p:extLst>
  </p:cSld>
  <p:clrMapOvr>
    <a:masterClrMapping/>
  </p:clrMapOvr>
  <p:transition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2E99D9-10CC-2516-1A37-AAB1027215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8288000" cy="845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71450"/>
      </p:ext>
    </p:extLst>
  </p:cSld>
  <p:clrMapOvr>
    <a:masterClrMapping/>
  </p:clrMapOvr>
  <p:transition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7CBEC8-0856-69CD-6300-1DC8F0E821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185" y="712845"/>
            <a:ext cx="15742103" cy="775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262252"/>
      </p:ext>
    </p:extLst>
  </p:cSld>
  <p:clrMapOvr>
    <a:masterClrMapping/>
  </p:clrMapOvr>
  <p:transition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559DB17-1878-E77A-F594-7ED21D19037E}"/>
              </a:ext>
            </a:extLst>
          </p:cNvPr>
          <p:cNvGrpSpPr/>
          <p:nvPr/>
        </p:nvGrpSpPr>
        <p:grpSpPr>
          <a:xfrm>
            <a:off x="646399" y="4345815"/>
            <a:ext cx="15468600" cy="4343400"/>
            <a:chOff x="0" y="3638220"/>
            <a:chExt cx="10309412" cy="272045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653C385-BF2A-9EEC-6F26-9CDAC126C7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r="12296"/>
            <a:stretch/>
          </p:blipFill>
          <p:spPr>
            <a:xfrm>
              <a:off x="219490" y="5372554"/>
              <a:ext cx="4235969" cy="893587"/>
            </a:xfrm>
            <a:prstGeom prst="rect">
              <a:avLst/>
            </a:prstGeom>
            <a:ln w="88900" cap="sq" cmpd="thickThin">
              <a:solidFill>
                <a:srgbClr val="000000"/>
              </a:solidFill>
              <a:prstDash val="solid"/>
              <a:miter lim="800000"/>
            </a:ln>
            <a:effectLst>
              <a:innerShdw blurRad="76200">
                <a:srgbClr val="000000"/>
              </a:innerShdw>
            </a:effectLst>
          </p:spPr>
        </p:pic>
        <p:sp>
          <p:nvSpPr>
            <p:cNvPr id="8" name="Subtitle 12">
              <a:extLst>
                <a:ext uri="{FF2B5EF4-FFF2-40B4-BE49-F238E27FC236}">
                  <a16:creationId xmlns:a16="http://schemas.microsoft.com/office/drawing/2014/main" id="{3526883B-9ADA-505A-7F31-7D07A60B29B0}"/>
                </a:ext>
              </a:extLst>
            </p:cNvPr>
            <p:cNvSpPr txBox="1">
              <a:spLocks/>
            </p:cNvSpPr>
            <p:nvPr/>
          </p:nvSpPr>
          <p:spPr>
            <a:xfrm>
              <a:off x="0" y="3638220"/>
              <a:ext cx="3844290" cy="78867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Testing 20%</a:t>
              </a:r>
            </a:p>
            <a:p>
              <a:endParaRPr lang="en-GB" dirty="0"/>
            </a:p>
          </p:txBody>
        </p:sp>
        <p:pic>
          <p:nvPicPr>
            <p:cNvPr id="9" name="Content Placeholder 4">
              <a:extLst>
                <a:ext uri="{FF2B5EF4-FFF2-40B4-BE49-F238E27FC236}">
                  <a16:creationId xmlns:a16="http://schemas.microsoft.com/office/drawing/2014/main" id="{2A3E601B-F8FE-2A81-7F91-27862F0F1D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909" r="15821" b="88003"/>
            <a:stretch/>
          </p:blipFill>
          <p:spPr>
            <a:xfrm>
              <a:off x="219490" y="4728789"/>
              <a:ext cx="4235969" cy="472528"/>
            </a:xfrm>
            <a:prstGeom prst="rect">
              <a:avLst/>
            </a:prstGeom>
            <a:ln w="88900" cap="sq" cmpd="thickThin">
              <a:solidFill>
                <a:srgbClr val="000000"/>
              </a:solidFill>
              <a:prstDash val="solid"/>
              <a:miter lim="800000"/>
            </a:ln>
            <a:effectLst>
              <a:innerShdw blurRad="76200">
                <a:srgbClr val="000000"/>
              </a:innerShdw>
            </a:effec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CF58F6C-26B5-765B-8DB2-0DFE85D2A0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84327" t="9817" r="2510" b="9709"/>
            <a:stretch/>
          </p:blipFill>
          <p:spPr>
            <a:xfrm>
              <a:off x="9403977" y="5372554"/>
              <a:ext cx="770964" cy="986119"/>
            </a:xfrm>
            <a:prstGeom prst="rect">
              <a:avLst/>
            </a:prstGeom>
            <a:ln w="88900" cap="sq" cmpd="thickThin">
              <a:solidFill>
                <a:srgbClr val="000000"/>
              </a:solidFill>
              <a:prstDash val="solid"/>
              <a:miter lim="800000"/>
            </a:ln>
            <a:effectLst>
              <a:innerShdw blurRad="76200">
                <a:srgbClr val="000000"/>
              </a:innerShdw>
            </a:effectLst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133EB81-831B-6F70-F3CC-935A8E2CF7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81576" t="15259" r="680" b="16874"/>
            <a:stretch/>
          </p:blipFill>
          <p:spPr>
            <a:xfrm>
              <a:off x="9269507" y="4728789"/>
              <a:ext cx="1039905" cy="376517"/>
            </a:xfrm>
            <a:prstGeom prst="rect">
              <a:avLst/>
            </a:prstGeom>
            <a:ln w="88900" cap="sq" cmpd="thickThin">
              <a:solidFill>
                <a:srgbClr val="000000"/>
              </a:solidFill>
              <a:prstDash val="solid"/>
              <a:miter lim="800000"/>
            </a:ln>
            <a:effectLst>
              <a:innerShdw blurRad="76200">
                <a:srgbClr val="000000"/>
              </a:innerShdw>
            </a:effectLst>
          </p:spPr>
        </p:pic>
      </p:grpSp>
      <p:pic>
        <p:nvPicPr>
          <p:cNvPr id="18" name="Content Placeholder 3">
            <a:extLst>
              <a:ext uri="{FF2B5EF4-FFF2-40B4-BE49-F238E27FC236}">
                <a16:creationId xmlns:a16="http://schemas.microsoft.com/office/drawing/2014/main" id="{246F2EDF-6767-4489-CBB7-E10F30533A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7827" y="173336"/>
            <a:ext cx="5744886" cy="854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330497"/>
      </p:ext>
    </p:extLst>
  </p:cSld>
  <p:clrMapOvr>
    <a:masterClrMapping/>
  </p:clrMapOvr>
  <p:transition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611230" y="8468617"/>
            <a:ext cx="2797512" cy="1818383"/>
          </a:xfrm>
          <a:custGeom>
            <a:avLst/>
            <a:gdLst/>
            <a:ahLst/>
            <a:cxnLst/>
            <a:rect l="l" t="t" r="r" b="b"/>
            <a:pathLst>
              <a:path w="2797512" h="1818383">
                <a:moveTo>
                  <a:pt x="0" y="0"/>
                </a:moveTo>
                <a:lnTo>
                  <a:pt x="2797512" y="0"/>
                </a:lnTo>
                <a:lnTo>
                  <a:pt x="2797512" y="1818383"/>
                </a:lnTo>
                <a:lnTo>
                  <a:pt x="0" y="181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2703" y="8720460"/>
            <a:ext cx="1053195" cy="1314696"/>
          </a:xfrm>
          <a:custGeom>
            <a:avLst/>
            <a:gdLst/>
            <a:ahLst/>
            <a:cxnLst/>
            <a:rect l="l" t="t" r="r" b="b"/>
            <a:pathLst>
              <a:path w="1053195" h="1314696">
                <a:moveTo>
                  <a:pt x="0" y="0"/>
                </a:moveTo>
                <a:lnTo>
                  <a:pt x="1053194" y="0"/>
                </a:lnTo>
                <a:lnTo>
                  <a:pt x="1053194" y="1314697"/>
                </a:lnTo>
                <a:lnTo>
                  <a:pt x="0" y="1314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632" t="-26947" r="-97632" b="-6046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12734" y="-4307249"/>
            <a:ext cx="7755772" cy="7755772"/>
          </a:xfrm>
          <a:custGeom>
            <a:avLst/>
            <a:gdLst/>
            <a:ahLst/>
            <a:cxnLst/>
            <a:rect l="l" t="t" r="r" b="b"/>
            <a:pathLst>
              <a:path w="7755772" h="7755772">
                <a:moveTo>
                  <a:pt x="0" y="0"/>
                </a:moveTo>
                <a:lnTo>
                  <a:pt x="7755772" y="0"/>
                </a:lnTo>
                <a:lnTo>
                  <a:pt x="7755772" y="7755772"/>
                </a:lnTo>
                <a:lnTo>
                  <a:pt x="0" y="7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860641963"/>
      </p:ext>
    </p:extLst>
  </p:cSld>
  <p:clrMapOvr>
    <a:masterClrMapping/>
  </p:clrMapOvr>
  <p:transition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162</Words>
  <Application>Microsoft Office PowerPoint</Application>
  <PresentationFormat>Custom</PresentationFormat>
  <Paragraphs>45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Roboto Condensed Bold</vt:lpstr>
      <vt:lpstr>Calibri</vt:lpstr>
      <vt:lpstr>Droid Arabic Naskh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نسخة من AI IEEE</dc:title>
  <dc:creator>Amira khaled</dc:creator>
  <cp:lastModifiedBy>اميره خالد محمود ابوسبع سليمان</cp:lastModifiedBy>
  <cp:revision>4</cp:revision>
  <dcterms:created xsi:type="dcterms:W3CDTF">2006-08-16T00:00:00Z</dcterms:created>
  <dcterms:modified xsi:type="dcterms:W3CDTF">2026-10-21T13:55:16Z</dcterms:modified>
  <dc:identifier>DAGV_qc_N-Y</dc:identifier>
</cp:coreProperties>
</file>